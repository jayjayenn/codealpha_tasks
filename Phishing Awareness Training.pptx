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8" r:id="rId3"/>
    <p:sldId id="271" r:id="rId4"/>
    <p:sldId id="260" r:id="rId5"/>
    <p:sldId id="261" r:id="rId6"/>
    <p:sldId id="263" r:id="rId7"/>
    <p:sldId id="264" r:id="rId8"/>
    <p:sldId id="265" r:id="rId9"/>
    <p:sldId id="273" r:id="rId10"/>
    <p:sldId id="268" r:id="rId11"/>
    <p:sldId id="275" r:id="rId12"/>
    <p:sldId id="272" r:id="rId13"/>
    <p:sldId id="274" r:id="rId14"/>
    <p:sldId id="276"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CF3A7B-CFCB-44CF-8AC3-FCD00F23BB8E}" v="35" dt="2026-06-24T18:04:34.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44" d="100"/>
          <a:sy n="44" d="100"/>
        </p:scale>
        <p:origin x="230"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2081415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2440980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628168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245311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2942192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385704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366686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453714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1696749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69201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2552299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16819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3222337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4282368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3158685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3617009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7C9D448-9B31-422A-9DF3-638F5FAEA16B}" type="datetimeFigureOut">
              <a:rPr lang="en-US" smtClean="0"/>
              <a:t>6/24/2026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162F55-1E3E-4038-AF1D-0ACD11CD9580}" type="slidenum">
              <a:rPr lang="en-US" smtClean="0"/>
              <a:t>‹#›</a:t>
            </a:fld>
            <a:endParaRPr lang="en-US" dirty="0"/>
          </a:p>
        </p:txBody>
      </p:sp>
    </p:spTree>
    <p:extLst>
      <p:ext uri="{BB962C8B-B14F-4D97-AF65-F5344CB8AC3E}">
        <p14:creationId xmlns:p14="http://schemas.microsoft.com/office/powerpoint/2010/main" val="1039865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7C9D448-9B31-422A-9DF3-638F5FAEA16B}" type="datetimeFigureOut">
              <a:rPr lang="en-US" smtClean="0"/>
              <a:t>6/24/2026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7162F55-1E3E-4038-AF1D-0ACD11CD9580}" type="slidenum">
              <a:rPr lang="en-US" smtClean="0"/>
              <a:t>‹#›</a:t>
            </a:fld>
            <a:endParaRPr lang="en-US" dirty="0"/>
          </a:p>
        </p:txBody>
      </p:sp>
    </p:spTree>
    <p:extLst>
      <p:ext uri="{BB962C8B-B14F-4D97-AF65-F5344CB8AC3E}">
        <p14:creationId xmlns:p14="http://schemas.microsoft.com/office/powerpoint/2010/main" val="1255281010"/>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bluevoyant.com/knowledge-center/8-devastating-phishing-attack-examples-and-prevention-tips" TargetMode="External"/><Relationship Id="rId2" Type="http://schemas.openxmlformats.org/officeDocument/2006/relationships/hyperlink" Target="https://www.ibm.com/think/topics/phishing" TargetMode="External"/><Relationship Id="rId1" Type="http://schemas.openxmlformats.org/officeDocument/2006/relationships/slideLayout" Target="../slideLayouts/slideLayout2.xml"/><Relationship Id="rId5" Type="http://schemas.openxmlformats.org/officeDocument/2006/relationships/hyperlink" Target="https://www.consilium.europa.eu/en/policies/cybersecurity-social-engineering/" TargetMode="External"/><Relationship Id="rId4" Type="http://schemas.openxmlformats.org/officeDocument/2006/relationships/hyperlink" Target="https://www.ncsc.gov.uk/guidance/phish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What Is Cybersecurity and Why Should It Be Your Priority? | CertiProf | International">
            <a:extLst>
              <a:ext uri="{FF2B5EF4-FFF2-40B4-BE49-F238E27FC236}">
                <a16:creationId xmlns:a16="http://schemas.microsoft.com/office/drawing/2014/main" id="{0951D741-6720-B2F5-E7DE-D4EE81E8DB0F}"/>
              </a:ext>
            </a:extLst>
          </p:cNvPr>
          <p:cNvPicPr>
            <a:picLocks noChangeAspect="1"/>
          </p:cNvPicPr>
          <p:nvPr/>
        </p:nvPicPr>
        <p:blipFill>
          <a:blip r:embed="rId2">
            <a:alphaModFix amt="40000"/>
          </a:blip>
          <a:srcRect r="44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8F0B27B-AA60-877B-DF06-387AE93A8B40}"/>
              </a:ext>
            </a:extLst>
          </p:cNvPr>
          <p:cNvSpPr>
            <a:spLocks noGrp="1"/>
          </p:cNvSpPr>
          <p:nvPr>
            <p:ph type="ctrTitle"/>
          </p:nvPr>
        </p:nvSpPr>
        <p:spPr>
          <a:xfrm>
            <a:off x="1154955" y="1447800"/>
            <a:ext cx="8825658" cy="3329581"/>
          </a:xfrm>
        </p:spPr>
        <p:txBody>
          <a:bodyPr>
            <a:normAutofit/>
          </a:bodyPr>
          <a:lstStyle/>
          <a:p>
            <a:r>
              <a:rPr lang="en-US" sz="6700" dirty="0">
                <a:solidFill>
                  <a:schemeClr val="tx1"/>
                </a:solidFill>
                <a:latin typeface="Times New Roman" panose="02020603050405020304" pitchFamily="18" charset="0"/>
                <a:cs typeface="Times New Roman" panose="02020603050405020304" pitchFamily="18" charset="0"/>
              </a:rPr>
              <a:t>Cybersecurity Awareness: Recognizing Phishing Attacks</a:t>
            </a:r>
          </a:p>
        </p:txBody>
      </p:sp>
      <p:sp>
        <p:nvSpPr>
          <p:cNvPr id="3" name="Subtitle 2">
            <a:extLst>
              <a:ext uri="{FF2B5EF4-FFF2-40B4-BE49-F238E27FC236}">
                <a16:creationId xmlns:a16="http://schemas.microsoft.com/office/drawing/2014/main" id="{DBBF17A9-A062-3E44-501A-AEB297FE0442}"/>
              </a:ext>
            </a:extLst>
          </p:cNvPr>
          <p:cNvSpPr>
            <a:spLocks noGrp="1"/>
          </p:cNvSpPr>
          <p:nvPr>
            <p:ph type="subTitle" idx="1"/>
          </p:nvPr>
        </p:nvSpPr>
        <p:spPr>
          <a:xfrm>
            <a:off x="1154955" y="4777380"/>
            <a:ext cx="8825658" cy="861420"/>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BY JIDECHI NWACHUKWU</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1015747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3"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60A2D77-82F0-6742-41C7-0446E215E8BA}"/>
              </a:ext>
            </a:extLst>
          </p:cNvPr>
          <p:cNvSpPr>
            <a:spLocks noGrp="1"/>
          </p:cNvSpPr>
          <p:nvPr>
            <p:ph type="title"/>
          </p:nvPr>
        </p:nvSpPr>
        <p:spPr>
          <a:xfrm>
            <a:off x="648930" y="629267"/>
            <a:ext cx="9252154" cy="1016654"/>
          </a:xfrm>
        </p:spPr>
        <p:txBody>
          <a:bodyPr>
            <a:normAutofit/>
          </a:bodyPr>
          <a:lstStyle/>
          <a:p>
            <a:r>
              <a:rPr lang="en-US" i="1" dirty="0">
                <a:solidFill>
                  <a:srgbClr val="EBEBEB"/>
                </a:solidFill>
                <a:latin typeface="Times New Roman" panose="02020603050405020304" pitchFamily="18" charset="0"/>
                <a:cs typeface="Times New Roman" panose="02020603050405020304" pitchFamily="18" charset="0"/>
              </a:rPr>
              <a:t>What is Phishing?</a:t>
            </a:r>
          </a:p>
        </p:txBody>
      </p:sp>
      <p:sp useBgFill="1">
        <p:nvSpPr>
          <p:cNvPr id="15" name="Freeform: Shape 14">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dirty="0"/>
          </a:p>
        </p:txBody>
      </p:sp>
      <p:sp>
        <p:nvSpPr>
          <p:cNvPr id="3" name="Content Placeholder 2">
            <a:extLst>
              <a:ext uri="{FF2B5EF4-FFF2-40B4-BE49-F238E27FC236}">
                <a16:creationId xmlns:a16="http://schemas.microsoft.com/office/drawing/2014/main" id="{44D36EFE-74E7-0EA7-5C17-1C9DB143D508}"/>
              </a:ext>
            </a:extLst>
          </p:cNvPr>
          <p:cNvSpPr>
            <a:spLocks noGrp="1"/>
          </p:cNvSpPr>
          <p:nvPr>
            <p:ph idx="1"/>
          </p:nvPr>
        </p:nvSpPr>
        <p:spPr>
          <a:xfrm>
            <a:off x="648931" y="2548281"/>
            <a:ext cx="5122606" cy="3658689"/>
          </a:xfrm>
        </p:spPr>
        <p:txBody>
          <a:bodyPr>
            <a:normAutofit/>
          </a:bodyPr>
          <a:lstStyle/>
          <a:p>
            <a:pPr marL="0" indent="0" algn="just">
              <a:lnSpc>
                <a:spcPct val="90000"/>
              </a:lnSpc>
              <a:buNone/>
            </a:pPr>
            <a:r>
              <a:rPr lang="en-US" sz="1300" dirty="0">
                <a:latin typeface="Times New Roman" panose="02020603050405020304" pitchFamily="18" charset="0"/>
                <a:cs typeface="Times New Roman" panose="02020603050405020304" pitchFamily="18" charset="0"/>
              </a:rPr>
              <a:t>According to the National Cyber Security Centre (NCSC), “Phishing is when attackers send scam emails (or text messages) that contain links to malicious website. This means these malicious websites may contain viruses or malware which destroys or causes harm or sabotages the system software and its components.</a:t>
            </a:r>
          </a:p>
          <a:p>
            <a:pPr marL="0" indent="0" algn="just">
              <a:lnSpc>
                <a:spcPct val="90000"/>
              </a:lnSpc>
              <a:buNone/>
            </a:pPr>
            <a:r>
              <a:rPr lang="en-GB" sz="1300" dirty="0">
                <a:latin typeface="Times New Roman" panose="02020603050405020304" pitchFamily="18" charset="0"/>
                <a:cs typeface="Times New Roman" panose="02020603050405020304" pitchFamily="18" charset="0"/>
              </a:rPr>
              <a:t>Another definition of phishing can be stated according to IBM, which says, “Phishing is a type of cyberattack that uses fraudulent emails, text messages, phone calls or websites to trick people into sharing sensitive data, downloading malware, or otherwise exposing themselves to cybercrime.</a:t>
            </a:r>
          </a:p>
          <a:p>
            <a:pPr marL="0" indent="0" algn="just">
              <a:lnSpc>
                <a:spcPct val="90000"/>
              </a:lnSpc>
              <a:buNone/>
            </a:pPr>
            <a:r>
              <a:rPr lang="en-GB" sz="1300" dirty="0">
                <a:latin typeface="Times New Roman" panose="02020603050405020304" pitchFamily="18" charset="0"/>
                <a:cs typeface="Times New Roman" panose="02020603050405020304" pitchFamily="18" charset="0"/>
              </a:rPr>
              <a:t>These types of phishing attack are targeted towards making the user a victim of cyber crimes by exposing their confidential information such as passwords.</a:t>
            </a:r>
          </a:p>
          <a:p>
            <a:pPr marL="0" indent="0" algn="just">
              <a:lnSpc>
                <a:spcPct val="90000"/>
              </a:lnSpc>
              <a:buNone/>
            </a:pPr>
            <a:r>
              <a:rPr lang="en-GB" sz="1300" dirty="0">
                <a:latin typeface="Times New Roman" panose="02020603050405020304" pitchFamily="18" charset="0"/>
                <a:cs typeface="Times New Roman" panose="02020603050405020304" pitchFamily="18" charset="0"/>
              </a:rPr>
              <a:t>Phishing is still one of the most prevalent and hazardous forms of cybercrime around the world. Knowing how phishing attacks occur, identifying its signs, and adhering to cybersecurity protocols play essential roles in stopping such cybercrime from happening. </a:t>
            </a:r>
            <a:endParaRPr lang="en-US" sz="1300" dirty="0">
              <a:latin typeface="Times New Roman" panose="02020603050405020304" pitchFamily="18" charset="0"/>
              <a:cs typeface="Times New Roman" panose="02020603050405020304" pitchFamily="18" charset="0"/>
            </a:endParaRPr>
          </a:p>
          <a:p>
            <a:pPr marL="0" indent="0" algn="just">
              <a:lnSpc>
                <a:spcPct val="90000"/>
              </a:lnSpc>
              <a:buNone/>
            </a:pPr>
            <a:endParaRPr lang="en-US" sz="1300" dirty="0">
              <a:latin typeface="Times New Roman" panose="02020603050405020304" pitchFamily="18" charset="0"/>
              <a:cs typeface="Times New Roman" panose="02020603050405020304" pitchFamily="18" charset="0"/>
            </a:endParaRPr>
          </a:p>
        </p:txBody>
      </p:sp>
      <p:pic>
        <p:nvPicPr>
          <p:cNvPr id="4" name="Picture 3" descr="Signs you've been phished and what to do next.">
            <a:extLst>
              <a:ext uri="{FF2B5EF4-FFF2-40B4-BE49-F238E27FC236}">
                <a16:creationId xmlns:a16="http://schemas.microsoft.com/office/drawing/2014/main" id="{326E245E-B910-AB81-BFC9-25BD0B1D902D}"/>
              </a:ext>
            </a:extLst>
          </p:cNvPr>
          <p:cNvPicPr>
            <a:picLocks noChangeAspect="1"/>
          </p:cNvPicPr>
          <p:nvPr/>
        </p:nvPicPr>
        <p:blipFill>
          <a:blip r:embed="rId2"/>
          <a:stretch>
            <a:fillRect/>
          </a:stretch>
        </p:blipFill>
        <p:spPr>
          <a:xfrm>
            <a:off x="6091916" y="2818762"/>
            <a:ext cx="5451627" cy="3121056"/>
          </a:xfrm>
          <a:prstGeom prst="rect">
            <a:avLst/>
          </a:prstGeom>
          <a:effectLst/>
        </p:spPr>
      </p:pic>
    </p:spTree>
    <p:extLst>
      <p:ext uri="{BB962C8B-B14F-4D97-AF65-F5344CB8AC3E}">
        <p14:creationId xmlns:p14="http://schemas.microsoft.com/office/powerpoint/2010/main" val="2653638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EE2009-C3D2-E246-F83F-26A0A9500478}"/>
              </a:ext>
            </a:extLst>
          </p:cNvPr>
          <p:cNvSpPr>
            <a:spLocks noGrp="1"/>
          </p:cNvSpPr>
          <p:nvPr>
            <p:ph type="title"/>
          </p:nvPr>
        </p:nvSpPr>
        <p:spPr>
          <a:xfrm>
            <a:off x="648931" y="629266"/>
            <a:ext cx="4166510" cy="1622321"/>
          </a:xfrm>
        </p:spPr>
        <p:txBody>
          <a:bodyPr>
            <a:normAutofit/>
          </a:bodyPr>
          <a:lstStyle/>
          <a:p>
            <a:r>
              <a:rPr lang="en-US" i="1" dirty="0">
                <a:solidFill>
                  <a:srgbClr val="EBEBEB"/>
                </a:solidFill>
                <a:latin typeface="Times New Roman" panose="02020603050405020304" pitchFamily="18" charset="0"/>
                <a:cs typeface="Times New Roman" panose="02020603050405020304" pitchFamily="18" charset="0"/>
              </a:rPr>
              <a:t>Why Phishing Works?</a:t>
            </a:r>
          </a:p>
        </p:txBody>
      </p:sp>
      <p:sp>
        <p:nvSpPr>
          <p:cNvPr id="1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13" name="Freeform: Shape 1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dirty="0"/>
          </a:p>
        </p:txBody>
      </p:sp>
      <p:pic>
        <p:nvPicPr>
          <p:cNvPr id="4" name="Picture 3" descr="Phishing Prevention Best Practices: How to Detect &amp; Avoid - Valimail">
            <a:extLst>
              <a:ext uri="{FF2B5EF4-FFF2-40B4-BE49-F238E27FC236}">
                <a16:creationId xmlns:a16="http://schemas.microsoft.com/office/drawing/2014/main" id="{1C8A8FD7-D210-8EB7-F5F3-DBBD40F35595}"/>
              </a:ext>
            </a:extLst>
          </p:cNvPr>
          <p:cNvPicPr>
            <a:picLocks noChangeAspect="1"/>
          </p:cNvPicPr>
          <p:nvPr/>
        </p:nvPicPr>
        <p:blipFill>
          <a:blip r:embed="rId2"/>
          <a:stretch>
            <a:fillRect/>
          </a:stretch>
        </p:blipFill>
        <p:spPr>
          <a:xfrm>
            <a:off x="6093992" y="1546905"/>
            <a:ext cx="5449889" cy="3764187"/>
          </a:xfrm>
          <a:prstGeom prst="rect">
            <a:avLst/>
          </a:prstGeom>
          <a:effectLst/>
        </p:spPr>
      </p:pic>
      <p:sp>
        <p:nvSpPr>
          <p:cNvPr id="15" name="Rectangle 1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E1951176-8329-2A0F-A44E-CF81BB482C23}"/>
              </a:ext>
            </a:extLst>
          </p:cNvPr>
          <p:cNvSpPr>
            <a:spLocks noGrp="1"/>
          </p:cNvSpPr>
          <p:nvPr>
            <p:ph idx="1"/>
          </p:nvPr>
        </p:nvSpPr>
        <p:spPr>
          <a:xfrm>
            <a:off x="648931" y="2438400"/>
            <a:ext cx="4166509" cy="3785419"/>
          </a:xfrm>
        </p:spPr>
        <p:txBody>
          <a:bodyPr>
            <a:normAutofit/>
          </a:bodyPr>
          <a:lstStyle/>
          <a:p>
            <a:pPr marL="0" indent="0" algn="just">
              <a:buNone/>
            </a:pPr>
            <a:r>
              <a:rPr lang="en-US" dirty="0">
                <a:solidFill>
                  <a:srgbClr val="EBEBEB"/>
                </a:solidFill>
                <a:latin typeface="Times New Roman" panose="02020603050405020304" pitchFamily="18" charset="0"/>
                <a:cs typeface="Times New Roman" panose="02020603050405020304" pitchFamily="18" charset="0"/>
              </a:rPr>
              <a:t>The reason why phishing works is that it takes advantage of people through sending them urgent emails stating that “your password expires today” or “your account will be terminated.” The moment one sends a message to a person and that person receives the message, they are immediately exposed to the attack</a:t>
            </a:r>
          </a:p>
        </p:txBody>
      </p:sp>
    </p:spTree>
    <p:extLst>
      <p:ext uri="{BB962C8B-B14F-4D97-AF65-F5344CB8AC3E}">
        <p14:creationId xmlns:p14="http://schemas.microsoft.com/office/powerpoint/2010/main" val="92250804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1EEF-1B56-E017-B02E-4C051FDC1B23}"/>
              </a:ext>
            </a:extLst>
          </p:cNvPr>
          <p:cNvSpPr>
            <a:spLocks noGrp="1"/>
          </p:cNvSpPr>
          <p:nvPr>
            <p:ph type="title"/>
          </p:nvPr>
        </p:nvSpPr>
        <p:spPr>
          <a:xfrm>
            <a:off x="5224006" y="629266"/>
            <a:ext cx="4985469" cy="1469878"/>
          </a:xfrm>
        </p:spPr>
        <p:txBody>
          <a:bodyPr>
            <a:normAutofit/>
          </a:bodyPr>
          <a:lstStyle/>
          <a:p>
            <a:r>
              <a:rPr lang="en-US" dirty="0">
                <a:latin typeface="Times New Roman" panose="02020603050405020304" pitchFamily="18" charset="0"/>
                <a:cs typeface="Times New Roman" panose="02020603050405020304" pitchFamily="18" charset="0"/>
              </a:rPr>
              <a:t>Types of Phishing</a:t>
            </a:r>
          </a:p>
        </p:txBody>
      </p:sp>
      <p:pic>
        <p:nvPicPr>
          <p:cNvPr id="4" name="Picture 3" descr="There are 5 Common Types of #phishing. Know what they are and how to protect yourself. ✉️ Email Phishing 🔱 Spear Phishing 📌 Clone Phishing 🐋Whaling 📌 Pop-Up Phishing #CyberSecurity">
            <a:extLst>
              <a:ext uri="{FF2B5EF4-FFF2-40B4-BE49-F238E27FC236}">
                <a16:creationId xmlns:a16="http://schemas.microsoft.com/office/drawing/2014/main" id="{8A8C50CC-9508-C643-BF55-D6D0D293E206}"/>
              </a:ext>
            </a:extLst>
          </p:cNvPr>
          <p:cNvPicPr>
            <a:picLocks noChangeAspect="1"/>
          </p:cNvPicPr>
          <p:nvPr/>
        </p:nvPicPr>
        <p:blipFill>
          <a:blip r:embed="rId3"/>
          <a:stretch>
            <a:fillRect/>
          </a:stretch>
        </p:blipFill>
        <p:spPr>
          <a:xfrm>
            <a:off x="636914" y="1082916"/>
            <a:ext cx="4261089" cy="4774329"/>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FDBAAB58-2DA0-26BD-64FF-06752B5C4253}"/>
              </a:ext>
            </a:extLst>
          </p:cNvPr>
          <p:cNvSpPr>
            <a:spLocks noGrp="1"/>
          </p:cNvSpPr>
          <p:nvPr>
            <p:ph idx="1"/>
          </p:nvPr>
        </p:nvSpPr>
        <p:spPr>
          <a:xfrm>
            <a:off x="5224005" y="2337683"/>
            <a:ext cx="4985470" cy="3910716"/>
          </a:xfrm>
        </p:spPr>
        <p:txBody>
          <a:bodyPr>
            <a:normAutofit fontScale="77500" lnSpcReduction="20000"/>
          </a:bodyPr>
          <a:lstStyle/>
          <a:p>
            <a:pPr marL="0" indent="0" algn="just">
              <a:lnSpc>
                <a:spcPct val="90000"/>
              </a:lnSpc>
              <a:buNone/>
            </a:pPr>
            <a:r>
              <a:rPr lang="en-US" sz="1600" dirty="0">
                <a:latin typeface="Times New Roman" panose="02020603050405020304" pitchFamily="18" charset="0"/>
                <a:cs typeface="Times New Roman" panose="02020603050405020304" pitchFamily="18" charset="0"/>
              </a:rPr>
              <a:t>Here are some common types of phishing attacks: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1. Email phishing: This is the most popular phishing method whereby scammers use fake domains that impersonates companies, organization, industries, etc. and sends multiple messages to different users.</a:t>
            </a:r>
          </a:p>
          <a:p>
            <a:pPr marL="0" indent="0" algn="just">
              <a:lnSpc>
                <a:spcPct val="90000"/>
              </a:lnSpc>
              <a:buNone/>
            </a:pPr>
            <a:r>
              <a:rPr lang="en-US" sz="1600" dirty="0">
                <a:latin typeface="Times New Roman" panose="02020603050405020304" pitchFamily="18" charset="0"/>
                <a:cs typeface="Times New Roman" panose="02020603050405020304" pitchFamily="18" charset="0"/>
              </a:rPr>
              <a:t>2. Spear phishing: Similar to any other phishing attack, communication is initiated from a “source that looks trustworthy” to deceive the victim. However, unlike other phishing attacks, the spear phishing approach targets a particular individual, or group of individuals instead of randomly attacking multiple users.</a:t>
            </a:r>
          </a:p>
          <a:p>
            <a:pPr marL="0" indent="0" algn="just">
              <a:lnSpc>
                <a:spcPct val="90000"/>
              </a:lnSpc>
              <a:buNone/>
            </a:pPr>
            <a:r>
              <a:rPr lang="en-US" sz="1600" dirty="0">
                <a:latin typeface="Times New Roman" panose="02020603050405020304" pitchFamily="18" charset="0"/>
                <a:cs typeface="Times New Roman" panose="02020603050405020304" pitchFamily="18" charset="0"/>
              </a:rPr>
              <a:t>3. Clone phishing: In this form of phishing attack, the phishing e-mail copies the previous legitimate e-mails from the trusted sources. The attackers use deception on the link, where they can change the original link from the first e-mail to a new link directing the victim’s browser to an illegitimate website that copies the legitimate one.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4. Whaling: This is a form of phishing where scammers target high-ranking executives to gain confidential and exclusive information from them or steal money from them.</a:t>
            </a:r>
          </a:p>
          <a:p>
            <a:pPr marL="0" indent="0" algn="just">
              <a:lnSpc>
                <a:spcPct val="90000"/>
              </a:lnSpc>
              <a:buNone/>
            </a:pPr>
            <a:r>
              <a:rPr lang="en-US" sz="1600" dirty="0">
                <a:latin typeface="Times New Roman" panose="02020603050405020304" pitchFamily="18" charset="0"/>
                <a:cs typeface="Times New Roman" panose="02020603050405020304" pitchFamily="18" charset="0"/>
              </a:rPr>
              <a:t>5. Pop-up Phishing: Although most people use pop-up blockers, pop-up phishing can be quite dangerous. The attackers hide the code for the malware in these small windows known as pop-ups. When the person attempts to access a particular website, they will receive notification that this website whishes to show its notifications. By clicking on “Allow,” they download the malware.</a:t>
            </a:r>
          </a:p>
        </p:txBody>
      </p:sp>
    </p:spTree>
    <p:extLst>
      <p:ext uri="{BB962C8B-B14F-4D97-AF65-F5344CB8AC3E}">
        <p14:creationId xmlns:p14="http://schemas.microsoft.com/office/powerpoint/2010/main" val="10481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635B4-9914-B7ED-C5A1-CDD1C80A73E3}"/>
              </a:ext>
            </a:extLst>
          </p:cNvPr>
          <p:cNvSpPr>
            <a:spLocks noGrp="1"/>
          </p:cNvSpPr>
          <p:nvPr>
            <p:ph type="title"/>
          </p:nvPr>
        </p:nvSpPr>
        <p:spPr>
          <a:xfrm>
            <a:off x="648930" y="629266"/>
            <a:ext cx="9252154" cy="1223983"/>
          </a:xfrm>
        </p:spPr>
        <p:txBody>
          <a:bodyPr>
            <a:normAutofit/>
          </a:bodyPr>
          <a:lstStyle/>
          <a:p>
            <a:r>
              <a:rPr lang="en-US">
                <a:latin typeface="Times New Roman" panose="02020603050405020304" pitchFamily="18" charset="0"/>
                <a:cs typeface="Times New Roman" panose="02020603050405020304" pitchFamily="18" charset="0"/>
              </a:rPr>
              <a:t>Recognizing Phishing Emails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EA9AB8-C590-FF62-0678-41F50C8FC569}"/>
              </a:ext>
            </a:extLst>
          </p:cNvPr>
          <p:cNvSpPr>
            <a:spLocks noGrp="1"/>
          </p:cNvSpPr>
          <p:nvPr>
            <p:ph idx="1"/>
          </p:nvPr>
        </p:nvSpPr>
        <p:spPr>
          <a:xfrm>
            <a:off x="1103311" y="2052214"/>
            <a:ext cx="4338409" cy="4196185"/>
          </a:xfrm>
        </p:spPr>
        <p:txBody>
          <a:bodyPr>
            <a:normAutofit/>
          </a:bodyPr>
          <a:lstStyle/>
          <a:p>
            <a:pPr marL="0" indent="0">
              <a:lnSpc>
                <a:spcPct val="90000"/>
              </a:lnSpc>
              <a:buNone/>
            </a:pPr>
            <a:r>
              <a:rPr lang="en-US" sz="1700">
                <a:latin typeface="Times New Roman" panose="02020603050405020304" pitchFamily="18" charset="0"/>
                <a:cs typeface="Times New Roman" panose="02020603050405020304" pitchFamily="18" charset="0"/>
              </a:rPr>
              <a:t>There are some common patterns associated with this attack which makes it able to detect phishing emails:</a:t>
            </a:r>
          </a:p>
          <a:p>
            <a:pPr>
              <a:lnSpc>
                <a:spcPct val="90000"/>
              </a:lnSpc>
            </a:pPr>
            <a:r>
              <a:rPr lang="en-US" sz="1700">
                <a:latin typeface="Times New Roman" panose="02020603050405020304" pitchFamily="18" charset="0"/>
                <a:cs typeface="Times New Roman" panose="02020603050405020304" pitchFamily="18" charset="0"/>
              </a:rPr>
              <a:t>Fake domains: These often contain character substitutions, such as covering up the letter “m” by using “r” and “n” next to each other to look like it.</a:t>
            </a:r>
          </a:p>
          <a:p>
            <a:pPr>
              <a:lnSpc>
                <a:spcPct val="90000"/>
              </a:lnSpc>
            </a:pPr>
            <a:r>
              <a:rPr lang="en-US" sz="1700">
                <a:latin typeface="Times New Roman" panose="02020603050405020304" pitchFamily="18" charset="0"/>
                <a:cs typeface="Times New Roman" panose="02020603050405020304" pitchFamily="18" charset="0"/>
              </a:rPr>
              <a:t>Email addresses: Users should always check their email address when a message prompts them to download a file/document/attachment as well as clicking a common link. They could also use a legitimate company’s name in the local part of the email address with the sender’s name appearing in the inbox (e.g. p****@organization.com).</a:t>
            </a:r>
          </a:p>
        </p:txBody>
      </p:sp>
      <p:pic>
        <p:nvPicPr>
          <p:cNvPr id="4" name="Picture 3" descr="6 Ways You Can Spot a Phishing Email">
            <a:extLst>
              <a:ext uri="{FF2B5EF4-FFF2-40B4-BE49-F238E27FC236}">
                <a16:creationId xmlns:a16="http://schemas.microsoft.com/office/drawing/2014/main" id="{C599E190-0B24-B342-59F2-6D027396A30B}"/>
              </a:ext>
            </a:extLst>
          </p:cNvPr>
          <p:cNvPicPr>
            <a:picLocks noChangeAspect="1"/>
          </p:cNvPicPr>
          <p:nvPr/>
        </p:nvPicPr>
        <p:blipFill>
          <a:blip r:embed="rId3"/>
          <a:stretch>
            <a:fillRect/>
          </a:stretch>
        </p:blipFill>
        <p:spPr>
          <a:xfrm>
            <a:off x="6264075" y="2052213"/>
            <a:ext cx="5107308" cy="4196185"/>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40592993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637B-0587-14E4-F2A8-1ECD9E465A7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Social Engineering Tactics</a:t>
            </a:r>
          </a:p>
        </p:txBody>
      </p:sp>
      <p:sp>
        <p:nvSpPr>
          <p:cNvPr id="3" name="Content Placeholder 2">
            <a:extLst>
              <a:ext uri="{FF2B5EF4-FFF2-40B4-BE49-F238E27FC236}">
                <a16:creationId xmlns:a16="http://schemas.microsoft.com/office/drawing/2014/main" id="{9DABEAD7-B29A-2655-00B5-9D6254233899}"/>
              </a:ext>
            </a:extLst>
          </p:cNvPr>
          <p:cNvSpPr>
            <a:spLocks noGrp="1"/>
          </p:cNvSpPr>
          <p:nvPr>
            <p:ph idx="1"/>
          </p:nvPr>
        </p:nvSpPr>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According to the European Council, Council of the European Union, “Social engineering is a strategy used by individuals or groups to manipulate and device people into revealing sensitive information or performing actions that compromise their security.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These are tactics used by attackers, such as persuasion, impersonation, etc. to extract confidential information from users. They can take various forms and techniques which include: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1. Impersonation: Pretending to be someone else. Attackers pretend to gain trust, either online or in person, to manipulate their victims into revealing sensitive information.</a:t>
            </a:r>
          </a:p>
          <a:p>
            <a:pPr marL="0" indent="0">
              <a:buNone/>
            </a:pPr>
            <a:r>
              <a:rPr lang="en-US" dirty="0">
                <a:latin typeface="Times New Roman" panose="02020603050405020304" pitchFamily="18" charset="0"/>
                <a:cs typeface="Times New Roman" panose="02020603050405020304" pitchFamily="18" charset="0"/>
              </a:rPr>
              <a:t>2. Angler phishing: This is when attackers mostly target social media users, often  taking advantage of their popularity or trending topics to create deceptive messages while making them appear relevant and trustworthy.</a:t>
            </a:r>
          </a:p>
          <a:p>
            <a:pPr marL="0" indent="0">
              <a:buNone/>
            </a:pPr>
            <a:r>
              <a:rPr lang="en-US" dirty="0">
                <a:latin typeface="Times New Roman" panose="02020603050405020304" pitchFamily="18" charset="0"/>
                <a:cs typeface="Times New Roman" panose="02020603050405020304" pitchFamily="18" charset="0"/>
              </a:rPr>
              <a:t>3. Vishing: This usually occurs through phone calls, voice communication. These attackers impersonate trusted entities and persuade victims to reveal sensitive information.</a:t>
            </a:r>
          </a:p>
        </p:txBody>
      </p:sp>
    </p:spTree>
    <p:extLst>
      <p:ext uri="{BB962C8B-B14F-4D97-AF65-F5344CB8AC3E}">
        <p14:creationId xmlns:p14="http://schemas.microsoft.com/office/powerpoint/2010/main" val="705111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1CE9B-7A8C-28A3-3AA6-087450D7A40F}"/>
              </a:ext>
            </a:extLst>
          </p:cNvPr>
          <p:cNvSpPr>
            <a:spLocks noGrp="1"/>
          </p:cNvSpPr>
          <p:nvPr>
            <p:ph type="title"/>
          </p:nvPr>
        </p:nvSpPr>
        <p:spPr>
          <a:xfrm>
            <a:off x="648930" y="629266"/>
            <a:ext cx="6188190" cy="1622321"/>
          </a:xfrm>
        </p:spPr>
        <p:txBody>
          <a:bodyPr>
            <a:normAutofit/>
          </a:bodyPr>
          <a:lstStyle/>
          <a:p>
            <a:r>
              <a:rPr lang="en-US">
                <a:solidFill>
                  <a:srgbClr val="EBEBEB"/>
                </a:solidFill>
                <a:latin typeface="Times New Roman" panose="02020603050405020304" pitchFamily="18" charset="0"/>
                <a:cs typeface="Times New Roman" panose="02020603050405020304" pitchFamily="18" charset="0"/>
              </a:rPr>
              <a:t>Real-World Examples</a:t>
            </a:r>
          </a:p>
        </p:txBody>
      </p:sp>
      <p:sp>
        <p:nvSpPr>
          <p:cNvPr id="3" name="Content Placeholder 2">
            <a:extLst>
              <a:ext uri="{FF2B5EF4-FFF2-40B4-BE49-F238E27FC236}">
                <a16:creationId xmlns:a16="http://schemas.microsoft.com/office/drawing/2014/main" id="{49F0790A-24DA-02E7-4D1D-6131FF1C0D3A}"/>
              </a:ext>
            </a:extLst>
          </p:cNvPr>
          <p:cNvSpPr>
            <a:spLocks noGrp="1"/>
          </p:cNvSpPr>
          <p:nvPr>
            <p:ph idx="1"/>
          </p:nvPr>
        </p:nvSpPr>
        <p:spPr>
          <a:xfrm>
            <a:off x="648930" y="2438400"/>
            <a:ext cx="6188189" cy="3785419"/>
          </a:xfrm>
        </p:spPr>
        <p:txBody>
          <a:bodyPr>
            <a:normAutofit/>
          </a:bodyPr>
          <a:lstStyle/>
          <a:p>
            <a:pPr marL="0" indent="0">
              <a:lnSpc>
                <a:spcPct val="90000"/>
              </a:lnSpc>
              <a:buNone/>
            </a:pPr>
            <a:r>
              <a:rPr lang="en-US" sz="1300" dirty="0">
                <a:solidFill>
                  <a:srgbClr val="FFFFFF"/>
                </a:solidFill>
                <a:latin typeface="Times New Roman" panose="02020603050405020304" pitchFamily="18" charset="0"/>
                <a:cs typeface="Times New Roman" panose="02020603050405020304" pitchFamily="18" charset="0"/>
              </a:rPr>
              <a:t>Here are some real-world examples of these phishing attacks:</a:t>
            </a:r>
          </a:p>
          <a:p>
            <a:pPr marL="457200" indent="-457200">
              <a:lnSpc>
                <a:spcPct val="90000"/>
              </a:lnSpc>
              <a:buAutoNum type="arabicPeriod"/>
            </a:pPr>
            <a:r>
              <a:rPr lang="en-US" sz="1300" dirty="0">
                <a:solidFill>
                  <a:srgbClr val="FFFFFF"/>
                </a:solidFill>
                <a:latin typeface="Times New Roman" panose="02020603050405020304" pitchFamily="18" charset="0"/>
                <a:cs typeface="Times New Roman" panose="02020603050405020304" pitchFamily="18" charset="0"/>
              </a:rPr>
              <a:t>Google and Facebook Phishing Attack: During 2013-2015, there was a phishing attack on Facebook and Google, causing financial losses worth $100 million. The attackers used the loophole that both companies use the same Taiwanese contractor company, known as Quanta. They issued a chain of fake invoices, making themselves appear as Quanta and getting money from the two companies.</a:t>
            </a:r>
          </a:p>
          <a:p>
            <a:pPr marL="457200" indent="-457200">
              <a:lnSpc>
                <a:spcPct val="90000"/>
              </a:lnSpc>
              <a:buAutoNum type="arabicPeriod"/>
            </a:pPr>
            <a:r>
              <a:rPr lang="en-US" sz="1300" dirty="0">
                <a:solidFill>
                  <a:srgbClr val="FFFFFF"/>
                </a:solidFill>
                <a:latin typeface="Times New Roman" panose="02020603050405020304" pitchFamily="18" charset="0"/>
                <a:cs typeface="Times New Roman" panose="02020603050405020304" pitchFamily="18" charset="0"/>
              </a:rPr>
              <a:t>USPS Phishing Attack: Smishing attacks that occurred in 2020 exploited the United States Postal Service (USPS). The cyber attackers sent SMS messages informing their targets to visit the link so that they could see crucial information regarding a pending delivery by the USPS. However, clicking on the link redirected the users to a number of websites where Google credentials were harvested.</a:t>
            </a:r>
          </a:p>
          <a:p>
            <a:pPr marL="457200" indent="-457200">
              <a:lnSpc>
                <a:spcPct val="90000"/>
              </a:lnSpc>
              <a:buAutoNum type="arabicPeriod"/>
            </a:pPr>
            <a:r>
              <a:rPr lang="en-US" sz="1300" dirty="0">
                <a:solidFill>
                  <a:srgbClr val="FFFFFF"/>
                </a:solidFill>
                <a:latin typeface="Times New Roman" panose="02020603050405020304" pitchFamily="18" charset="0"/>
                <a:cs typeface="Times New Roman" panose="02020603050405020304" pitchFamily="18" charset="0"/>
              </a:rPr>
              <a:t>Levitas Capital Phishing Attack: In 2020, the Australian hedge fund Levitas Capital was subjected to a whaling attack on its co-founder, The co-founder received an email which had a fake Zoom link. On clicking this link, a malware infected the corporate network of the hedge fund and generated fake invoices for about $8.7 million. The loss suffered by the company due to this attack amounted to only $800,000 but the damage to the reputation of the hedge fund led to its closure as they lost their client.</a:t>
            </a:r>
          </a:p>
          <a:p>
            <a:pPr marL="0" indent="0">
              <a:lnSpc>
                <a:spcPct val="90000"/>
              </a:lnSpc>
              <a:buNone/>
            </a:pPr>
            <a:endParaRPr lang="en-US" sz="1300" dirty="0">
              <a:solidFill>
                <a:srgbClr val="FFFFFF"/>
              </a:solidFill>
              <a:latin typeface="Times New Roman" panose="02020603050405020304" pitchFamily="18" charset="0"/>
              <a:cs typeface="Times New Roman" panose="02020603050405020304" pitchFamily="18" charset="0"/>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Picture 3" descr="3 Lessons From the Facebook and Google Loss of $100M to a Spear Phishing Attack - Kaseya">
            <a:extLst>
              <a:ext uri="{FF2B5EF4-FFF2-40B4-BE49-F238E27FC236}">
                <a16:creationId xmlns:a16="http://schemas.microsoft.com/office/drawing/2014/main" id="{C44C7BA4-2FFA-A1B7-EC86-D3456C9B2304}"/>
              </a:ext>
            </a:extLst>
          </p:cNvPr>
          <p:cNvPicPr>
            <a:picLocks noChangeAspect="1"/>
          </p:cNvPicPr>
          <p:nvPr/>
        </p:nvPicPr>
        <p:blipFill>
          <a:blip r:embed="rId3"/>
          <a:srcRect l="21818" r="29874" b="-2"/>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399353025"/>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D1CC0-AD18-A5CE-D13F-E1BCA0049B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Best Practices and Tips</a:t>
            </a:r>
          </a:p>
        </p:txBody>
      </p:sp>
      <p:sp>
        <p:nvSpPr>
          <p:cNvPr id="3" name="Content Placeholder 2">
            <a:extLst>
              <a:ext uri="{FF2B5EF4-FFF2-40B4-BE49-F238E27FC236}">
                <a16:creationId xmlns:a16="http://schemas.microsoft.com/office/drawing/2014/main" id="{98F98E16-23D9-4C8D-7F87-9DF24594514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These are some practices that should be done, as well as tips, regularly, which include:</a:t>
            </a:r>
          </a:p>
          <a:p>
            <a:pPr marL="0" indent="0">
              <a:buNone/>
            </a:pPr>
            <a:r>
              <a:rPr lang="en-US" b="1" dirty="0">
                <a:latin typeface="Times New Roman" panose="02020603050405020304" pitchFamily="18" charset="0"/>
                <a:cs typeface="Times New Roman" panose="02020603050405020304" pitchFamily="18" charset="0"/>
              </a:rPr>
              <a:t>DO:</a:t>
            </a:r>
          </a:p>
          <a:p>
            <a:r>
              <a:rPr lang="en-US" dirty="0">
                <a:latin typeface="Times New Roman" panose="02020603050405020304" pitchFamily="18" charset="0"/>
                <a:cs typeface="Times New Roman" panose="02020603050405020304" pitchFamily="18" charset="0"/>
              </a:rPr>
              <a:t>Verify Sender email addresses</a:t>
            </a:r>
          </a:p>
          <a:p>
            <a:r>
              <a:rPr lang="en-US" dirty="0">
                <a:latin typeface="Times New Roman" panose="02020603050405020304" pitchFamily="18" charset="0"/>
                <a:cs typeface="Times New Roman" panose="02020603050405020304" pitchFamily="18" charset="0"/>
              </a:rPr>
              <a:t>Hover over links before clicking</a:t>
            </a:r>
          </a:p>
          <a:p>
            <a:r>
              <a:rPr lang="en-US" dirty="0">
                <a:latin typeface="Times New Roman" panose="02020603050405020304" pitchFamily="18" charset="0"/>
                <a:cs typeface="Times New Roman" panose="02020603050405020304" pitchFamily="18" charset="0"/>
              </a:rPr>
              <a:t>Use MFA</a:t>
            </a:r>
          </a:p>
          <a:p>
            <a:r>
              <a:rPr lang="en-US" dirty="0">
                <a:latin typeface="Times New Roman" panose="02020603050405020304" pitchFamily="18" charset="0"/>
                <a:cs typeface="Times New Roman" panose="02020603050405020304" pitchFamily="18" charset="0"/>
              </a:rPr>
              <a:t>Report suspicious emails</a:t>
            </a:r>
          </a:p>
          <a:p>
            <a:r>
              <a:rPr lang="en-US" dirty="0">
                <a:latin typeface="Times New Roman" panose="02020603050405020304" pitchFamily="18" charset="0"/>
                <a:cs typeface="Times New Roman" panose="02020603050405020304" pitchFamily="18" charset="0"/>
              </a:rPr>
              <a:t>Verify requests through another channel</a:t>
            </a:r>
          </a:p>
          <a:p>
            <a:r>
              <a:rPr lang="en-US" dirty="0">
                <a:latin typeface="Times New Roman" panose="02020603050405020304" pitchFamily="18" charset="0"/>
                <a:cs typeface="Times New Roman" panose="02020603050405020304" pitchFamily="18" charset="0"/>
              </a:rPr>
              <a:t>Keep software updated</a:t>
            </a:r>
          </a:p>
          <a:p>
            <a:r>
              <a:rPr lang="en-US" dirty="0">
                <a:latin typeface="Times New Roman" panose="02020603050405020304" pitchFamily="18" charset="0"/>
                <a:cs typeface="Times New Roman" panose="02020603050405020304" pitchFamily="18" charset="0"/>
              </a:rPr>
              <a:t>Use strong unique passwords</a:t>
            </a:r>
          </a:p>
        </p:txBody>
      </p:sp>
    </p:spTree>
    <p:extLst>
      <p:ext uri="{BB962C8B-B14F-4D97-AF65-F5344CB8AC3E}">
        <p14:creationId xmlns:p14="http://schemas.microsoft.com/office/powerpoint/2010/main" val="2393727593"/>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AD14-F839-8886-090A-922490A4F6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Best Practices and Tips Cont’d</a:t>
            </a:r>
            <a:endParaRPr lang="en-US" dirty="0"/>
          </a:p>
        </p:txBody>
      </p:sp>
      <p:sp>
        <p:nvSpPr>
          <p:cNvPr id="3" name="Content Placeholder 2">
            <a:extLst>
              <a:ext uri="{FF2B5EF4-FFF2-40B4-BE49-F238E27FC236}">
                <a16:creationId xmlns:a16="http://schemas.microsoft.com/office/drawing/2014/main" id="{69AAD7B1-945C-4890-BA5E-408E8C9BB712}"/>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DON’T:</a:t>
            </a:r>
          </a:p>
          <a:p>
            <a:r>
              <a:rPr lang="en-US" dirty="0">
                <a:latin typeface="Times New Roman" panose="02020603050405020304" pitchFamily="18" charset="0"/>
                <a:cs typeface="Times New Roman" panose="02020603050405020304" pitchFamily="18" charset="0"/>
              </a:rPr>
              <a:t>Open unexpected attachments</a:t>
            </a:r>
          </a:p>
          <a:p>
            <a:r>
              <a:rPr lang="en-US" dirty="0">
                <a:latin typeface="Times New Roman" panose="02020603050405020304" pitchFamily="18" charset="0"/>
                <a:cs typeface="Times New Roman" panose="02020603050405020304" pitchFamily="18" charset="0"/>
              </a:rPr>
              <a:t>Share passwords</a:t>
            </a:r>
          </a:p>
          <a:p>
            <a:r>
              <a:rPr lang="en-US" dirty="0">
                <a:latin typeface="Times New Roman" panose="02020603050405020304" pitchFamily="18" charset="0"/>
                <a:cs typeface="Times New Roman" panose="02020603050405020304" pitchFamily="18" charset="0"/>
              </a:rPr>
              <a:t>Trust urgent requests automatically</a:t>
            </a:r>
          </a:p>
          <a:p>
            <a:r>
              <a:rPr lang="en-US" dirty="0">
                <a:latin typeface="Times New Roman" panose="02020603050405020304" pitchFamily="18" charset="0"/>
                <a:cs typeface="Times New Roman" panose="02020603050405020304" pitchFamily="18" charset="0"/>
              </a:rPr>
              <a:t>Click shortened links blindly</a:t>
            </a:r>
          </a:p>
          <a:p>
            <a:r>
              <a:rPr lang="en-US" dirty="0">
                <a:latin typeface="Times New Roman" panose="02020603050405020304" pitchFamily="18" charset="0"/>
                <a:cs typeface="Times New Roman" panose="02020603050405020304" pitchFamily="18" charset="0"/>
              </a:rPr>
              <a:t>Send sensitive data through email</a:t>
            </a:r>
          </a:p>
        </p:txBody>
      </p:sp>
    </p:spTree>
    <p:extLst>
      <p:ext uri="{BB962C8B-B14F-4D97-AF65-F5344CB8AC3E}">
        <p14:creationId xmlns:p14="http://schemas.microsoft.com/office/powerpoint/2010/main" val="318249592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C57F-10E3-A10F-05EC-EA3CB157D70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Quiz</a:t>
            </a:r>
          </a:p>
        </p:txBody>
      </p:sp>
      <p:sp>
        <p:nvSpPr>
          <p:cNvPr id="3" name="Content Placeholder 2">
            <a:extLst>
              <a:ext uri="{FF2B5EF4-FFF2-40B4-BE49-F238E27FC236}">
                <a16:creationId xmlns:a16="http://schemas.microsoft.com/office/drawing/2014/main" id="{A01BA17F-9D49-EF74-B1BC-BB1D6B675C4E}"/>
              </a:ext>
            </a:extLst>
          </p:cNvPr>
          <p:cNvSpPr>
            <a:spLocks noGrp="1"/>
          </p:cNvSpPr>
          <p:nvPr>
            <p:ph idx="1"/>
          </p:nvPr>
        </p:nvSpPr>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Question 1:</a:t>
            </a:r>
          </a:p>
          <a:p>
            <a:pPr marL="0" indent="0">
              <a:buNone/>
            </a:pPr>
            <a:r>
              <a:rPr lang="en-US" dirty="0">
                <a:latin typeface="Times New Roman" panose="02020603050405020304" pitchFamily="18" charset="0"/>
                <a:cs typeface="Times New Roman" panose="02020603050405020304" pitchFamily="18" charset="0"/>
              </a:rPr>
              <a:t>What is Spear Phishing?</a:t>
            </a:r>
          </a:p>
          <a:p>
            <a:pPr marL="0" indent="0">
              <a:buNone/>
            </a:pPr>
            <a:r>
              <a:rPr lang="en-US" dirty="0">
                <a:latin typeface="Times New Roman" panose="02020603050405020304" pitchFamily="18" charset="0"/>
                <a:cs typeface="Times New Roman" panose="02020603050405020304" pitchFamily="18" charset="0"/>
              </a:rPr>
              <a:t>A. Random mass emails</a:t>
            </a:r>
          </a:p>
          <a:p>
            <a:pPr marL="0" indent="0">
              <a:buNone/>
            </a:pPr>
            <a:r>
              <a:rPr lang="en-US" dirty="0">
                <a:latin typeface="Times New Roman" panose="02020603050405020304" pitchFamily="18" charset="0"/>
                <a:cs typeface="Times New Roman" panose="02020603050405020304" pitchFamily="18" charset="0"/>
              </a:rPr>
              <a:t>B. Targeted phishing against specific individuals</a:t>
            </a:r>
          </a:p>
          <a:p>
            <a:pPr marL="0" indent="0">
              <a:buNone/>
            </a:pPr>
            <a:r>
              <a:rPr lang="en-US" dirty="0">
                <a:latin typeface="Times New Roman" panose="02020603050405020304" pitchFamily="18" charset="0"/>
                <a:cs typeface="Times New Roman" panose="02020603050405020304" pitchFamily="18" charset="0"/>
              </a:rPr>
              <a:t>C. Physical theft</a:t>
            </a:r>
          </a:p>
          <a:p>
            <a:pPr marL="0" indent="0">
              <a:buNone/>
            </a:pPr>
            <a:r>
              <a:rPr lang="en-US" dirty="0">
                <a:latin typeface="Times New Roman" panose="02020603050405020304" pitchFamily="18" charset="0"/>
                <a:cs typeface="Times New Roman" panose="02020603050405020304" pitchFamily="18" charset="0"/>
              </a:rPr>
              <a:t>D. Malware scanning</a:t>
            </a:r>
          </a:p>
          <a:p>
            <a:pPr marL="0" indent="0">
              <a:buNone/>
            </a:pPr>
            <a:r>
              <a:rPr lang="en-US" b="1" dirty="0">
                <a:latin typeface="Times New Roman" panose="02020603050405020304" pitchFamily="18" charset="0"/>
                <a:cs typeface="Times New Roman" panose="02020603050405020304" pitchFamily="18" charset="0"/>
              </a:rPr>
              <a:t>Question 2:</a:t>
            </a:r>
          </a:p>
          <a:p>
            <a:pPr marL="0" indent="0">
              <a:buNone/>
            </a:pPr>
            <a:r>
              <a:rPr lang="en-US" dirty="0">
                <a:latin typeface="Times New Roman" panose="02020603050405020304" pitchFamily="18" charset="0"/>
                <a:cs typeface="Times New Roman" panose="02020603050405020304" pitchFamily="18" charset="0"/>
              </a:rPr>
              <a:t>An email from your CEO requests an urgent wire transfer. What should you do?</a:t>
            </a:r>
          </a:p>
          <a:p>
            <a:pPr marL="0" indent="0">
              <a:buNone/>
            </a:pPr>
            <a:r>
              <a:rPr lang="en-US" dirty="0">
                <a:latin typeface="Times New Roman" panose="02020603050405020304" pitchFamily="18" charset="0"/>
                <a:cs typeface="Times New Roman" panose="02020603050405020304" pitchFamily="18" charset="0"/>
              </a:rPr>
              <a:t>A. Send it immediately</a:t>
            </a:r>
          </a:p>
          <a:p>
            <a:pPr marL="0" indent="0">
              <a:buNone/>
            </a:pPr>
            <a:r>
              <a:rPr lang="en-US" dirty="0">
                <a:latin typeface="Times New Roman" panose="02020603050405020304" pitchFamily="18" charset="0"/>
                <a:cs typeface="Times New Roman" panose="02020603050405020304" pitchFamily="18" charset="0"/>
              </a:rPr>
              <a:t>B. Ignore it</a:t>
            </a:r>
          </a:p>
          <a:p>
            <a:pPr marL="0" indent="0">
              <a:buNone/>
            </a:pPr>
            <a:r>
              <a:rPr lang="en-US" dirty="0">
                <a:latin typeface="Times New Roman" panose="02020603050405020304" pitchFamily="18" charset="0"/>
                <a:cs typeface="Times New Roman" panose="02020603050405020304" pitchFamily="18" charset="0"/>
              </a:rPr>
              <a:t>C. Verify through another communication channel</a:t>
            </a:r>
          </a:p>
          <a:p>
            <a:pPr marL="0" indent="0">
              <a:buNone/>
            </a:pPr>
            <a:r>
              <a:rPr lang="en-US" dirty="0">
                <a:latin typeface="Times New Roman" panose="02020603050405020304" pitchFamily="18" charset="0"/>
                <a:cs typeface="Times New Roman" panose="02020603050405020304" pitchFamily="18" charset="0"/>
              </a:rPr>
              <a:t>D. Forward to coworkers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96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08CC-D57C-6548-FE48-72C1853F51C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Quiz Cont’d</a:t>
            </a:r>
            <a:endParaRPr lang="en-US" dirty="0"/>
          </a:p>
        </p:txBody>
      </p:sp>
      <p:sp>
        <p:nvSpPr>
          <p:cNvPr id="3" name="Content Placeholder 2">
            <a:extLst>
              <a:ext uri="{FF2B5EF4-FFF2-40B4-BE49-F238E27FC236}">
                <a16:creationId xmlns:a16="http://schemas.microsoft.com/office/drawing/2014/main" id="{C4A23F3D-41E2-4015-73F7-50EC08838829}"/>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Question 3</a:t>
            </a:r>
          </a:p>
          <a:p>
            <a:pPr marL="0" indent="0">
              <a:buNone/>
            </a:pPr>
            <a:r>
              <a:rPr lang="en-US" dirty="0">
                <a:latin typeface="Times New Roman" panose="02020603050405020304" pitchFamily="18" charset="0"/>
                <a:cs typeface="Times New Roman" panose="02020603050405020304" pitchFamily="18" charset="0"/>
              </a:rPr>
              <a:t>Before clicking a link, what should you do?</a:t>
            </a:r>
          </a:p>
          <a:p>
            <a:pPr marL="0" indent="0">
              <a:buNone/>
            </a:pPr>
            <a:r>
              <a:rPr lang="en-US" dirty="0">
                <a:latin typeface="Times New Roman" panose="02020603050405020304" pitchFamily="18" charset="0"/>
                <a:cs typeface="Times New Roman" panose="02020603050405020304" pitchFamily="18" charset="0"/>
              </a:rPr>
              <a:t>A. Click quickly</a:t>
            </a:r>
          </a:p>
          <a:p>
            <a:pPr marL="0" indent="0">
              <a:buNone/>
            </a:pPr>
            <a:r>
              <a:rPr lang="en-US" dirty="0">
                <a:latin typeface="Times New Roman" panose="02020603050405020304" pitchFamily="18" charset="0"/>
                <a:cs typeface="Times New Roman" panose="02020603050405020304" pitchFamily="18" charset="0"/>
              </a:rPr>
              <a:t>B. Forward it</a:t>
            </a:r>
          </a:p>
          <a:p>
            <a:pPr marL="0" indent="0">
              <a:buNone/>
            </a:pPr>
            <a:r>
              <a:rPr lang="en-US" dirty="0">
                <a:latin typeface="Times New Roman" panose="02020603050405020304" pitchFamily="18" charset="0"/>
                <a:cs typeface="Times New Roman" panose="02020603050405020304" pitchFamily="18" charset="0"/>
              </a:rPr>
              <a:t>C. Hover over it to inspect the URL</a:t>
            </a:r>
          </a:p>
          <a:p>
            <a:pPr marL="0" indent="0">
              <a:buNone/>
            </a:pPr>
            <a:r>
              <a:rPr lang="en-US" dirty="0">
                <a:latin typeface="Times New Roman" panose="02020603050405020304" pitchFamily="18" charset="0"/>
                <a:cs typeface="Times New Roman" panose="02020603050405020304" pitchFamily="18" charset="0"/>
              </a:rPr>
              <a:t>D. Download attachments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616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9993-875D-AD95-8416-171AAE0977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Quiz Cont’d</a:t>
            </a:r>
          </a:p>
        </p:txBody>
      </p:sp>
      <p:sp>
        <p:nvSpPr>
          <p:cNvPr id="3" name="Content Placeholder 2">
            <a:extLst>
              <a:ext uri="{FF2B5EF4-FFF2-40B4-BE49-F238E27FC236}">
                <a16:creationId xmlns:a16="http://schemas.microsoft.com/office/drawing/2014/main" id="{9666CB62-6277-531F-4A8F-A4CC177EF1C0}"/>
              </a:ext>
            </a:extLst>
          </p:cNvPr>
          <p:cNvSpPr>
            <a:spLocks noGrp="1"/>
          </p:cNvSpPr>
          <p:nvPr>
            <p:ph idx="1"/>
          </p:nvPr>
        </p:nvSpPr>
        <p:spPr/>
        <p:txBody>
          <a:bodyPr>
            <a:normAutofit fontScale="25000" lnSpcReduction="20000"/>
          </a:bodyPr>
          <a:lstStyle/>
          <a:p>
            <a:pPr marL="0" indent="0">
              <a:buNone/>
            </a:pPr>
            <a:r>
              <a:rPr lang="en-US" sz="4000" b="1" dirty="0">
                <a:latin typeface="Times New Roman" panose="02020603050405020304" pitchFamily="18" charset="0"/>
                <a:cs typeface="Times New Roman" panose="02020603050405020304" pitchFamily="18" charset="0"/>
              </a:rPr>
              <a:t>Scenario 1:</a:t>
            </a:r>
          </a:p>
          <a:p>
            <a:pPr marL="0" indent="0">
              <a:buNone/>
            </a:pPr>
            <a:r>
              <a:rPr lang="en-US" sz="4000" dirty="0">
                <a:latin typeface="Times New Roman" panose="02020603050405020304" pitchFamily="18" charset="0"/>
                <a:cs typeface="Times New Roman" panose="02020603050405020304" pitchFamily="18" charset="0"/>
              </a:rPr>
              <a:t>You receive a message from HR asking you to log into a new payroll portal using a link provided in the email.</a:t>
            </a:r>
          </a:p>
          <a:p>
            <a:pPr marL="0" indent="0">
              <a:buNone/>
            </a:pPr>
            <a:r>
              <a:rPr lang="en-US" sz="4000" dirty="0">
                <a:latin typeface="Times New Roman" panose="02020603050405020304" pitchFamily="18" charset="0"/>
                <a:cs typeface="Times New Roman" panose="02020603050405020304" pitchFamily="18" charset="0"/>
              </a:rPr>
              <a:t>What should you do first?</a:t>
            </a:r>
          </a:p>
          <a:p>
            <a:pPr marL="0" indent="0">
              <a:buNone/>
            </a:pPr>
            <a:r>
              <a:rPr lang="en-US" sz="4000" dirty="0">
                <a:latin typeface="Times New Roman" panose="02020603050405020304" pitchFamily="18" charset="0"/>
                <a:cs typeface="Times New Roman" panose="02020603050405020304" pitchFamily="18" charset="0"/>
              </a:rPr>
              <a:t>A. Click the link</a:t>
            </a:r>
          </a:p>
          <a:p>
            <a:pPr marL="0" indent="0">
              <a:buNone/>
            </a:pPr>
            <a:r>
              <a:rPr lang="en-US" sz="4000" dirty="0">
                <a:latin typeface="Times New Roman" panose="02020603050405020304" pitchFamily="18" charset="0"/>
                <a:cs typeface="Times New Roman" panose="02020603050405020304" pitchFamily="18" charset="0"/>
              </a:rPr>
              <a:t>B. Reply with your password</a:t>
            </a:r>
          </a:p>
          <a:p>
            <a:pPr marL="0" indent="0">
              <a:buNone/>
            </a:pPr>
            <a:r>
              <a:rPr lang="en-US" sz="4000" dirty="0">
                <a:latin typeface="Times New Roman" panose="02020603050405020304" pitchFamily="18" charset="0"/>
                <a:cs typeface="Times New Roman" panose="02020603050405020304" pitchFamily="18" charset="0"/>
              </a:rPr>
              <a:t>C. Verify with HR and visit the portal through the official company website</a:t>
            </a:r>
          </a:p>
          <a:p>
            <a:pPr marL="0" indent="0">
              <a:buNone/>
            </a:pPr>
            <a:r>
              <a:rPr lang="en-US" sz="4000" dirty="0">
                <a:latin typeface="Times New Roman" panose="02020603050405020304" pitchFamily="18" charset="0"/>
                <a:cs typeface="Times New Roman" panose="02020603050405020304" pitchFamily="18" charset="0"/>
              </a:rPr>
              <a:t>D. Ignore permanently</a:t>
            </a:r>
          </a:p>
          <a:p>
            <a:pPr marL="0" indent="0">
              <a:buNone/>
            </a:pPr>
            <a:r>
              <a:rPr lang="en-US" sz="4000" b="1" dirty="0">
                <a:latin typeface="Times New Roman" panose="02020603050405020304" pitchFamily="18" charset="0"/>
                <a:cs typeface="Times New Roman" panose="02020603050405020304" pitchFamily="18" charset="0"/>
              </a:rPr>
              <a:t>Scenario 2</a:t>
            </a:r>
          </a:p>
          <a:p>
            <a:pPr marL="0" indent="0">
              <a:buNone/>
            </a:pPr>
            <a:r>
              <a:rPr lang="en-US" sz="4000" dirty="0">
                <a:latin typeface="Times New Roman" panose="02020603050405020304" pitchFamily="18" charset="0"/>
                <a:cs typeface="Times New Roman" panose="02020603050405020304" pitchFamily="18" charset="0"/>
              </a:rPr>
              <a:t>You receive an SMS:</a:t>
            </a:r>
          </a:p>
          <a:p>
            <a:pPr marL="0" indent="0">
              <a:buNone/>
            </a:pPr>
            <a:r>
              <a:rPr lang="en-US" sz="4000" dirty="0">
                <a:latin typeface="Times New Roman" panose="02020603050405020304" pitchFamily="18" charset="0"/>
                <a:cs typeface="Times New Roman" panose="02020603050405020304" pitchFamily="18" charset="0"/>
              </a:rPr>
              <a:t>Your package delivery failed. Click here to reschedule.</a:t>
            </a:r>
          </a:p>
          <a:p>
            <a:pPr marL="0" indent="0">
              <a:buNone/>
            </a:pPr>
            <a:r>
              <a:rPr lang="en-US" sz="4000" dirty="0">
                <a:latin typeface="Times New Roman" panose="02020603050405020304" pitchFamily="18" charset="0"/>
                <a:cs typeface="Times New Roman" panose="02020603050405020304" pitchFamily="18" charset="0"/>
              </a:rPr>
              <a:t>What phishing technique is this?</a:t>
            </a:r>
          </a:p>
          <a:p>
            <a:pPr marL="0" indent="0">
              <a:buNone/>
            </a:pPr>
            <a:r>
              <a:rPr lang="en-US" sz="4000" dirty="0">
                <a:latin typeface="Times New Roman" panose="02020603050405020304" pitchFamily="18" charset="0"/>
                <a:cs typeface="Times New Roman" panose="02020603050405020304" pitchFamily="18" charset="0"/>
              </a:rPr>
              <a:t>A. Vishing</a:t>
            </a:r>
          </a:p>
          <a:p>
            <a:pPr marL="0" indent="0">
              <a:buNone/>
            </a:pPr>
            <a:r>
              <a:rPr lang="en-US" sz="4000" dirty="0">
                <a:latin typeface="Times New Roman" panose="02020603050405020304" pitchFamily="18" charset="0"/>
                <a:cs typeface="Times New Roman" panose="02020603050405020304" pitchFamily="18" charset="0"/>
              </a:rPr>
              <a:t>B. Smishing</a:t>
            </a:r>
          </a:p>
          <a:p>
            <a:pPr marL="0" indent="0">
              <a:buNone/>
            </a:pPr>
            <a:r>
              <a:rPr lang="en-US" sz="4000" dirty="0">
                <a:latin typeface="Times New Roman" panose="02020603050405020304" pitchFamily="18" charset="0"/>
                <a:cs typeface="Times New Roman" panose="02020603050405020304" pitchFamily="18" charset="0"/>
              </a:rPr>
              <a:t>C. Tailgating</a:t>
            </a:r>
          </a:p>
          <a:p>
            <a:pPr marL="0" indent="0">
              <a:buNone/>
            </a:pPr>
            <a:r>
              <a:rPr lang="en-US" sz="4000" dirty="0">
                <a:latin typeface="Times New Roman" panose="02020603050405020304" pitchFamily="18" charset="0"/>
                <a:cs typeface="Times New Roman" panose="02020603050405020304" pitchFamily="18" charset="0"/>
              </a:rPr>
              <a:t>D. Baiting</a:t>
            </a:r>
          </a:p>
        </p:txBody>
      </p:sp>
    </p:spTree>
    <p:extLst>
      <p:ext uri="{BB962C8B-B14F-4D97-AF65-F5344CB8AC3E}">
        <p14:creationId xmlns:p14="http://schemas.microsoft.com/office/powerpoint/2010/main" val="350702007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509E9-600D-2DE9-B274-2964D3056C6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Quiz Cont’d</a:t>
            </a:r>
          </a:p>
        </p:txBody>
      </p:sp>
      <p:sp>
        <p:nvSpPr>
          <p:cNvPr id="3" name="Content Placeholder 2">
            <a:extLst>
              <a:ext uri="{FF2B5EF4-FFF2-40B4-BE49-F238E27FC236}">
                <a16:creationId xmlns:a16="http://schemas.microsoft.com/office/drawing/2014/main" id="{15F714B7-187A-F626-C593-99F1E8CB75C9}"/>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Scenario 3</a:t>
            </a:r>
          </a:p>
          <a:p>
            <a:pPr marL="0" indent="0">
              <a:buNone/>
            </a:pPr>
            <a:r>
              <a:rPr lang="en-US" dirty="0">
                <a:latin typeface="Times New Roman" panose="02020603050405020304" pitchFamily="18" charset="0"/>
                <a:cs typeface="Times New Roman" panose="02020603050405020304" pitchFamily="18" charset="0"/>
              </a:rPr>
              <a:t>Someone calls claiming to be IT support and asks for your password to fix a problem.</a:t>
            </a:r>
          </a:p>
          <a:p>
            <a:pPr marL="0" indent="0">
              <a:buNone/>
            </a:pPr>
            <a:r>
              <a:rPr lang="en-US" dirty="0">
                <a:latin typeface="Times New Roman" panose="02020603050405020304" pitchFamily="18" charset="0"/>
                <a:cs typeface="Times New Roman" panose="02020603050405020304" pitchFamily="18" charset="0"/>
              </a:rPr>
              <a:t>What should you do?</a:t>
            </a:r>
          </a:p>
          <a:p>
            <a:pPr marL="0" indent="0">
              <a:buNone/>
            </a:pPr>
            <a:r>
              <a:rPr lang="en-US" dirty="0">
                <a:latin typeface="Times New Roman" panose="02020603050405020304" pitchFamily="18" charset="0"/>
                <a:cs typeface="Times New Roman" panose="02020603050405020304" pitchFamily="18" charset="0"/>
              </a:rPr>
              <a:t>A. Share the password</a:t>
            </a:r>
          </a:p>
          <a:p>
            <a:pPr marL="0" indent="0">
              <a:buNone/>
            </a:pPr>
            <a:r>
              <a:rPr lang="en-US" dirty="0">
                <a:latin typeface="Times New Roman" panose="02020603050405020304" pitchFamily="18" charset="0"/>
                <a:cs typeface="Times New Roman" panose="02020603050405020304" pitchFamily="18" charset="0"/>
              </a:rPr>
              <a:t>B. Give only part of the password</a:t>
            </a:r>
          </a:p>
          <a:p>
            <a:pPr marL="0" indent="0">
              <a:buNone/>
            </a:pPr>
            <a:r>
              <a:rPr lang="en-US" dirty="0">
                <a:latin typeface="Times New Roman" panose="02020603050405020304" pitchFamily="18" charset="0"/>
                <a:cs typeface="Times New Roman" panose="02020603050405020304" pitchFamily="18" charset="0"/>
              </a:rPr>
              <a:t>C. Refuse and verify through official channels</a:t>
            </a:r>
          </a:p>
          <a:p>
            <a:pPr marL="0" indent="0">
              <a:buNone/>
            </a:pPr>
            <a:r>
              <a:rPr lang="en-US" dirty="0">
                <a:latin typeface="Times New Roman" panose="02020603050405020304" pitchFamily="18" charset="0"/>
                <a:cs typeface="Times New Roman" panose="02020603050405020304" pitchFamily="18" charset="0"/>
              </a:rPr>
              <a:t>D. Change the password after sharing</a:t>
            </a:r>
          </a:p>
          <a:p>
            <a:pPr marL="0" indent="0">
              <a:buNone/>
            </a:pPr>
            <a:endParaRPr lang="en-US" dirty="0"/>
          </a:p>
        </p:txBody>
      </p:sp>
    </p:spTree>
    <p:extLst>
      <p:ext uri="{BB962C8B-B14F-4D97-AF65-F5344CB8AC3E}">
        <p14:creationId xmlns:p14="http://schemas.microsoft.com/office/powerpoint/2010/main" val="304019240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4D17-8B4E-6469-43B6-BE651C4AFD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Quiz Answers</a:t>
            </a:r>
          </a:p>
        </p:txBody>
      </p:sp>
      <p:sp>
        <p:nvSpPr>
          <p:cNvPr id="3" name="Content Placeholder 2">
            <a:extLst>
              <a:ext uri="{FF2B5EF4-FFF2-40B4-BE49-F238E27FC236}">
                <a16:creationId xmlns:a16="http://schemas.microsoft.com/office/drawing/2014/main" id="{1EC54EA1-D1E6-F416-4F83-6A5FBF49303B}"/>
              </a:ext>
            </a:extLst>
          </p:cNvPr>
          <p:cNvSpPr>
            <a:spLocks noGrp="1"/>
          </p:cNvSpPr>
          <p:nvPr>
            <p:ph idx="1"/>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Question 1: </a:t>
            </a:r>
          </a:p>
          <a:p>
            <a:pPr marL="0" indent="0">
              <a:buNone/>
            </a:pPr>
            <a:r>
              <a:rPr lang="en-US" dirty="0">
                <a:latin typeface="Times New Roman" panose="02020603050405020304" pitchFamily="18" charset="0"/>
                <a:cs typeface="Times New Roman" panose="02020603050405020304" pitchFamily="18" charset="0"/>
              </a:rPr>
              <a:t>B</a:t>
            </a:r>
          </a:p>
          <a:p>
            <a:pPr marL="0" indent="0">
              <a:buNone/>
            </a:pPr>
            <a:r>
              <a:rPr lang="en-US" dirty="0">
                <a:latin typeface="Times New Roman" panose="02020603050405020304" pitchFamily="18" charset="0"/>
                <a:cs typeface="Times New Roman" panose="02020603050405020304" pitchFamily="18" charset="0"/>
              </a:rPr>
              <a:t>Question 2:</a:t>
            </a:r>
          </a:p>
          <a:p>
            <a:pPr marL="0" indent="0">
              <a:buNone/>
            </a:pPr>
            <a:r>
              <a:rPr lang="en-US" dirty="0">
                <a:latin typeface="Times New Roman" panose="02020603050405020304" pitchFamily="18" charset="0"/>
                <a:cs typeface="Times New Roman" panose="02020603050405020304" pitchFamily="18" charset="0"/>
              </a:rPr>
              <a:t>C</a:t>
            </a:r>
          </a:p>
          <a:p>
            <a:pPr marL="0" indent="0">
              <a:buNone/>
            </a:pPr>
            <a:r>
              <a:rPr lang="en-US" dirty="0">
                <a:latin typeface="Times New Roman" panose="02020603050405020304" pitchFamily="18" charset="0"/>
                <a:cs typeface="Times New Roman" panose="02020603050405020304" pitchFamily="18" charset="0"/>
              </a:rPr>
              <a:t>Question 3:</a:t>
            </a:r>
          </a:p>
          <a:p>
            <a:pPr marL="0" indent="0">
              <a:buNone/>
            </a:pPr>
            <a:r>
              <a:rPr lang="en-US" dirty="0">
                <a:latin typeface="Times New Roman" panose="02020603050405020304" pitchFamily="18" charset="0"/>
                <a:cs typeface="Times New Roman" panose="02020603050405020304" pitchFamily="18" charset="0"/>
              </a:rPr>
              <a:t>C</a:t>
            </a:r>
          </a:p>
          <a:p>
            <a:pPr marL="0" indent="0">
              <a:buNone/>
            </a:pPr>
            <a:r>
              <a:rPr lang="en-US" dirty="0">
                <a:latin typeface="Times New Roman" panose="02020603050405020304" pitchFamily="18" charset="0"/>
                <a:cs typeface="Times New Roman" panose="02020603050405020304" pitchFamily="18" charset="0"/>
              </a:rPr>
              <a:t>Scenario 1:</a:t>
            </a:r>
          </a:p>
          <a:p>
            <a:pPr marL="0" indent="0">
              <a:buNone/>
            </a:pPr>
            <a:r>
              <a:rPr lang="en-US" dirty="0">
                <a:latin typeface="Times New Roman" panose="02020603050405020304" pitchFamily="18" charset="0"/>
                <a:cs typeface="Times New Roman" panose="02020603050405020304" pitchFamily="18" charset="0"/>
              </a:rPr>
              <a:t>C</a:t>
            </a:r>
          </a:p>
          <a:p>
            <a:pPr marL="0" indent="0">
              <a:buNone/>
            </a:pPr>
            <a:r>
              <a:rPr lang="en-US" dirty="0">
                <a:latin typeface="Times New Roman" panose="02020603050405020304" pitchFamily="18" charset="0"/>
                <a:cs typeface="Times New Roman" panose="02020603050405020304" pitchFamily="18" charset="0"/>
              </a:rPr>
              <a:t>Scenario 2:</a:t>
            </a:r>
          </a:p>
          <a:p>
            <a:pPr marL="0" indent="0">
              <a:buNone/>
            </a:pPr>
            <a:r>
              <a:rPr lang="en-US" dirty="0">
                <a:latin typeface="Times New Roman" panose="02020603050405020304" pitchFamily="18" charset="0"/>
                <a:cs typeface="Times New Roman" panose="02020603050405020304" pitchFamily="18" charset="0"/>
              </a:rPr>
              <a:t>B</a:t>
            </a:r>
          </a:p>
          <a:p>
            <a:pPr marL="0" indent="0">
              <a:buNone/>
            </a:pPr>
            <a:r>
              <a:rPr lang="en-US" dirty="0">
                <a:latin typeface="Times New Roman" panose="02020603050405020304" pitchFamily="18" charset="0"/>
                <a:cs typeface="Times New Roman" panose="02020603050405020304" pitchFamily="18" charset="0"/>
              </a:rPr>
              <a:t>Scenario 3:</a:t>
            </a:r>
          </a:p>
          <a:p>
            <a:pPr marL="0" indent="0">
              <a:buNone/>
            </a:pPr>
            <a:r>
              <a:rPr lang="en-US" dirty="0">
                <a:latin typeface="Times New Roman" panose="02020603050405020304" pitchFamily="18" charset="0"/>
                <a:cs typeface="Times New Roman" panose="02020603050405020304" pitchFamily="18" charset="0"/>
              </a:rPr>
              <a:t>C</a:t>
            </a:r>
          </a:p>
        </p:txBody>
      </p:sp>
    </p:spTree>
    <p:extLst>
      <p:ext uri="{BB962C8B-B14F-4D97-AF65-F5344CB8AC3E}">
        <p14:creationId xmlns:p14="http://schemas.microsoft.com/office/powerpoint/2010/main" val="1318320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AD5D7-0217-405A-28DD-039E54A5FC7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5A6727A-F44C-3B84-055D-F10D4C7266A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hlinkClick r:id="rId2"/>
              </a:rPr>
              <a:t>https://www.ibm.com/think/topics/phishing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3"/>
              </a:rPr>
              <a:t>https://www.bluevoyant.com/knowledge-center/8-devastating-phishing-attack-examples-and-prevention-tips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4"/>
              </a:rPr>
              <a:t>https://www.ncsc.gov.uk/guidance/phishing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5"/>
              </a:rPr>
              <a:t>https://www.consilium.europa.eu/en/policies/cybersecurity-social-engineering/</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1487117"/>
      </p:ext>
    </p:extLst>
  </p:cSld>
  <p:clrMapOvr>
    <a:masterClrMapping/>
  </p:clrMapOvr>
  <p:transition spd="slow">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532</TotalTime>
  <Words>1458</Words>
  <Application>Microsoft Office PowerPoint</Application>
  <PresentationFormat>Widescreen</PresentationFormat>
  <Paragraphs>106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Century Gothic</vt:lpstr>
      <vt:lpstr>Times New Roman</vt:lpstr>
      <vt:lpstr>Wingdings 3</vt:lpstr>
      <vt:lpstr>Ion</vt:lpstr>
      <vt:lpstr>Cybersecurity Awareness: Recognizing Phishing Attacks</vt:lpstr>
      <vt:lpstr>What is Phishing?</vt:lpstr>
      <vt:lpstr>Why Phishing Works?</vt:lpstr>
      <vt:lpstr>Types of Phishing</vt:lpstr>
      <vt:lpstr>Recognizing Phishing Emails</vt:lpstr>
      <vt:lpstr>Social Engineering Tactics</vt:lpstr>
      <vt:lpstr>Real-World Examples</vt:lpstr>
      <vt:lpstr>Best Practices and Tips</vt:lpstr>
      <vt:lpstr>Best Practices and Tips Cont’d</vt:lpstr>
      <vt:lpstr>Quiz</vt:lpstr>
      <vt:lpstr>Quiz Cont’d</vt:lpstr>
      <vt:lpstr>Quiz Cont’d</vt:lpstr>
      <vt:lpstr>Quiz Cont’d</vt:lpstr>
      <vt:lpstr>Quiz Answers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Jidechi Nwachukwu</dc:creator>
  <cp:lastModifiedBy>Jidechi Nwachukwu</cp:lastModifiedBy>
  <cp:revision>2</cp:revision>
  <dcterms:created xsi:type="dcterms:W3CDTF">2026-05-09T20:05:47Z</dcterms:created>
  <dcterms:modified xsi:type="dcterms:W3CDTF">2026-06-24T18:37:32Z</dcterms:modified>
</cp:coreProperties>
</file>